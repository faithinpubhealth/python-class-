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6"/>
  </p:notesMasterIdLst>
  <p:handoutMasterIdLst>
    <p:handoutMasterId r:id="rId17"/>
  </p:handoutMasterIdLst>
  <p:sldIdLst>
    <p:sldId id="1497" r:id="rId5"/>
    <p:sldId id="1514" r:id="rId6"/>
    <p:sldId id="1520" r:id="rId7"/>
    <p:sldId id="1515" r:id="rId8"/>
    <p:sldId id="1526" r:id="rId9"/>
    <p:sldId id="1522" r:id="rId10"/>
    <p:sldId id="1527" r:id="rId11"/>
    <p:sldId id="1525" r:id="rId12"/>
    <p:sldId id="1529" r:id="rId13"/>
    <p:sldId id="1500" r:id="rId14"/>
    <p:sldId id="152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A89B71-F60C-4B83-9CDB-C2B571E23579}" v="15" dt="2026-09-28T10:10:30.537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0079" autoAdjust="0"/>
  </p:normalViewPr>
  <p:slideViewPr>
    <p:cSldViewPr snapToGrid="0">
      <p:cViewPr varScale="1">
        <p:scale>
          <a:sx n="46" d="100"/>
          <a:sy n="46" d="100"/>
        </p:scale>
        <p:origin x="108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#1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cycle">
      <a:schemeClr val="accent3">
        <a:shade val="6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cycle">
      <a:schemeClr val="accent3">
        <a:tint val="75000"/>
      </a:schemeClr>
      <a:schemeClr val="accent3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3">
        <a:shade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>
        <a:tint val="99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3">
        <a:tint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2B8C89-9E73-4747-A14E-4B672CA84E38}" type="doc">
      <dgm:prSet loTypeId="urn:microsoft.com/office/officeart/2005/8/layout/default" loCatId="list" qsTypeId="urn:microsoft.com/office/officeart/2005/8/quickstyle/simple1#1" qsCatId="simple" csTypeId="urn:microsoft.com/office/officeart/2005/8/colors/accent3_4#1" csCatId="accent3" phldr="1"/>
      <dgm:spPr/>
      <dgm:t>
        <a:bodyPr/>
        <a:lstStyle/>
        <a:p>
          <a:endParaRPr lang="en-US"/>
        </a:p>
      </dgm:t>
    </dgm:pt>
    <dgm:pt modelId="{29912BFC-B719-4A6B-9C4E-63CC42B129DA}">
      <dgm:prSet phldrT="[Text]"/>
      <dgm:spPr/>
      <dgm:t>
        <a:bodyPr/>
        <a:lstStyle/>
        <a:p>
          <a:pPr>
            <a:buNone/>
          </a:pPr>
          <a:r>
            <a:rPr lang="en-US" dirty="0">
              <a:effectLst/>
            </a:rPr>
            <a:t>The NYC Health Department has responded to your service request. Restaurant inspection information can be found online at www.nyc.gov/health/abceats. This service request has been closed. (26,984)</a:t>
          </a:r>
          <a:endParaRPr lang="en-US" dirty="0"/>
        </a:p>
      </dgm:t>
    </dgm:pt>
    <dgm:pt modelId="{64E87E68-496D-4DCB-A5F6-1E6E285D93DB}" type="parTrans" cxnId="{22319B40-DDCA-4E96-97C6-5B993DBB9688}">
      <dgm:prSet/>
      <dgm:spPr/>
      <dgm:t>
        <a:bodyPr/>
        <a:lstStyle/>
        <a:p>
          <a:endParaRPr lang="en-US"/>
        </a:p>
      </dgm:t>
    </dgm:pt>
    <dgm:pt modelId="{91DCB188-246A-4AFF-8F69-9AAF4DDFA1CC}" type="sibTrans" cxnId="{22319B40-DDCA-4E96-97C6-5B993DBB9688}">
      <dgm:prSet/>
      <dgm:spPr/>
      <dgm:t>
        <a:bodyPr/>
        <a:lstStyle/>
        <a:p>
          <a:endParaRPr lang="en-US"/>
        </a:p>
      </dgm:t>
    </dgm:pt>
    <dgm:pt modelId="{E04FC624-C7DD-4913-B489-6E39BF9B5CEC}">
      <dgm:prSet phldrT="[Text]"/>
      <dgm:spPr/>
      <dgm:t>
        <a:bodyPr/>
        <a:lstStyle/>
        <a:p>
          <a:pPr>
            <a:buNone/>
          </a:pPr>
          <a:r>
            <a:rPr lang="en-US" dirty="0">
              <a:effectLst/>
            </a:rPr>
            <a:t>This SR was administratively closed. The issue you reported was addressed. (13,378)</a:t>
          </a:r>
          <a:endParaRPr lang="en-US" dirty="0"/>
        </a:p>
      </dgm:t>
    </dgm:pt>
    <dgm:pt modelId="{7D3FDB02-99C5-481D-98BF-5D4BD8353B3F}" type="parTrans" cxnId="{C8C72881-4F7C-446F-937D-745E74C2790C}">
      <dgm:prSet/>
      <dgm:spPr/>
      <dgm:t>
        <a:bodyPr/>
        <a:lstStyle/>
        <a:p>
          <a:endParaRPr lang="en-US"/>
        </a:p>
      </dgm:t>
    </dgm:pt>
    <dgm:pt modelId="{04190234-71D9-42EA-88DA-271B7B0AEAB9}" type="sibTrans" cxnId="{C8C72881-4F7C-446F-937D-745E74C2790C}">
      <dgm:prSet/>
      <dgm:spPr/>
      <dgm:t>
        <a:bodyPr/>
        <a:lstStyle/>
        <a:p>
          <a:endParaRPr lang="en-US"/>
        </a:p>
      </dgm:t>
    </dgm:pt>
    <dgm:pt modelId="{E1E0FC49-DB2B-48E9-83C7-73FA0297658A}">
      <dgm:prSet phldrT="[Text]"/>
      <dgm:spPr/>
      <dgm:t>
        <a:bodyPr/>
        <a:lstStyle/>
        <a:p>
          <a:pPr>
            <a:buNone/>
          </a:pPr>
          <a:r>
            <a:rPr lang="en-US" dirty="0">
              <a:effectLst/>
            </a:rPr>
            <a:t>The Department of Health and Mental Hygiene has determined that the reported incident is isolated. The establishment will be inspected according to its normal schedule for sanitary inspections. (5,464)</a:t>
          </a:r>
          <a:endParaRPr lang="en-US" dirty="0"/>
        </a:p>
      </dgm:t>
    </dgm:pt>
    <dgm:pt modelId="{A6A04B1E-8986-4CF2-B7CB-5BD53A8E67AF}" type="parTrans" cxnId="{F2D327A7-D28F-4CDC-89EF-A909A7D67EC0}">
      <dgm:prSet/>
      <dgm:spPr/>
      <dgm:t>
        <a:bodyPr/>
        <a:lstStyle/>
        <a:p>
          <a:endParaRPr lang="en-US"/>
        </a:p>
      </dgm:t>
    </dgm:pt>
    <dgm:pt modelId="{D1AA62C4-3B6B-4D32-876D-C24B82A3F9ED}" type="sibTrans" cxnId="{F2D327A7-D28F-4CDC-89EF-A909A7D67EC0}">
      <dgm:prSet/>
      <dgm:spPr/>
      <dgm:t>
        <a:bodyPr/>
        <a:lstStyle/>
        <a:p>
          <a:endParaRPr lang="en-US"/>
        </a:p>
      </dgm:t>
    </dgm:pt>
    <dgm:pt modelId="{D383137D-32D2-4C13-870E-A1E8F36ABFE8}">
      <dgm:prSet phldrT="[Text]"/>
      <dgm:spPr/>
      <dgm:t>
        <a:bodyPr/>
        <a:lstStyle/>
        <a:p>
          <a:pPr>
            <a:buNone/>
          </a:pPr>
          <a:r>
            <a:rPr lang="en-US" dirty="0">
              <a:effectLst/>
            </a:rPr>
            <a:t>The Department of Health and Mental Hygiene has sent official written notification to the Owner/Landlord warning them of potential violations and instructing them to correct the situation. If the situation persists 21 days after your initial complaint, please make a new complaint (1987)</a:t>
          </a:r>
          <a:endParaRPr lang="en-US" dirty="0"/>
        </a:p>
      </dgm:t>
    </dgm:pt>
    <dgm:pt modelId="{6930105F-2603-4097-9F3C-4D356C6DE8AC}" type="parTrans" cxnId="{E499F5BE-58BA-4694-80A1-6C19A38D79E8}">
      <dgm:prSet/>
      <dgm:spPr/>
      <dgm:t>
        <a:bodyPr/>
        <a:lstStyle/>
        <a:p>
          <a:endParaRPr lang="en-US"/>
        </a:p>
      </dgm:t>
    </dgm:pt>
    <dgm:pt modelId="{866D0CA7-F7A0-4BB2-87BB-DE7F1D5D12AF}" type="sibTrans" cxnId="{E499F5BE-58BA-4694-80A1-6C19A38D79E8}">
      <dgm:prSet/>
      <dgm:spPr/>
      <dgm:t>
        <a:bodyPr/>
        <a:lstStyle/>
        <a:p>
          <a:endParaRPr lang="en-US"/>
        </a:p>
      </dgm:t>
    </dgm:pt>
    <dgm:pt modelId="{119C812A-927F-4C62-8B15-AFE970BEC110}">
      <dgm:prSet phldrT="[Text]"/>
      <dgm:spPr/>
      <dgm:t>
        <a:bodyPr/>
        <a:lstStyle/>
        <a:p>
          <a:pPr>
            <a:buNone/>
          </a:pPr>
          <a:r>
            <a:rPr lang="en-US" dirty="0">
              <a:effectLst/>
            </a:rPr>
            <a:t>The Department of Health and Mental Hygiene has sent official written notification to the Owner/Landlord warning them of potential violations and instructing them to correct the situation. If the situation persists 21 days after your initial complaint, please make a new complaint. (1471)</a:t>
          </a:r>
          <a:endParaRPr lang="en-US" dirty="0"/>
        </a:p>
      </dgm:t>
    </dgm:pt>
    <dgm:pt modelId="{E29B78D5-4D2D-43D8-9FFD-2E2D89D17DA9}" type="parTrans" cxnId="{722F1B8A-783D-4BEE-96C7-F025FCB03415}">
      <dgm:prSet/>
      <dgm:spPr/>
      <dgm:t>
        <a:bodyPr/>
        <a:lstStyle/>
        <a:p>
          <a:endParaRPr lang="en-US"/>
        </a:p>
      </dgm:t>
    </dgm:pt>
    <dgm:pt modelId="{1AF0A1F7-F3BB-45DF-8BF0-31ACEDE13233}" type="sibTrans" cxnId="{722F1B8A-783D-4BEE-96C7-F025FCB03415}">
      <dgm:prSet/>
      <dgm:spPr/>
      <dgm:t>
        <a:bodyPr/>
        <a:lstStyle/>
        <a:p>
          <a:endParaRPr lang="en-US"/>
        </a:p>
      </dgm:t>
    </dgm:pt>
    <dgm:pt modelId="{FE0C3C45-B916-433F-B820-DB362A2E6AF9}" type="pres">
      <dgm:prSet presAssocID="{912B8C89-9E73-4747-A14E-4B672CA84E38}" presName="diagram" presStyleCnt="0">
        <dgm:presLayoutVars>
          <dgm:dir/>
          <dgm:resizeHandles val="exact"/>
        </dgm:presLayoutVars>
      </dgm:prSet>
      <dgm:spPr/>
    </dgm:pt>
    <dgm:pt modelId="{33B854EF-A44C-4E77-A020-3FD049C3B9DC}" type="pres">
      <dgm:prSet presAssocID="{29912BFC-B719-4A6B-9C4E-63CC42B129DA}" presName="node" presStyleLbl="node1" presStyleIdx="0" presStyleCnt="5">
        <dgm:presLayoutVars>
          <dgm:bulletEnabled val="1"/>
        </dgm:presLayoutVars>
      </dgm:prSet>
      <dgm:spPr/>
    </dgm:pt>
    <dgm:pt modelId="{9F60FC36-3576-4AFB-BFCF-2CDA02A6840F}" type="pres">
      <dgm:prSet presAssocID="{91DCB188-246A-4AFF-8F69-9AAF4DDFA1CC}" presName="sibTrans" presStyleCnt="0"/>
      <dgm:spPr/>
    </dgm:pt>
    <dgm:pt modelId="{66D20304-8E31-45A8-B10A-70518DECCC08}" type="pres">
      <dgm:prSet presAssocID="{E04FC624-C7DD-4913-B489-6E39BF9B5CEC}" presName="node" presStyleLbl="node1" presStyleIdx="1" presStyleCnt="5" custLinFactNeighborX="746" custLinFactNeighborY="621">
        <dgm:presLayoutVars>
          <dgm:bulletEnabled val="1"/>
        </dgm:presLayoutVars>
      </dgm:prSet>
      <dgm:spPr/>
    </dgm:pt>
    <dgm:pt modelId="{A2250E33-8E4A-4AE2-92B9-86D2C1088C6F}" type="pres">
      <dgm:prSet presAssocID="{04190234-71D9-42EA-88DA-271B7B0AEAB9}" presName="sibTrans" presStyleCnt="0"/>
      <dgm:spPr/>
    </dgm:pt>
    <dgm:pt modelId="{A7C5812B-D2B4-4AE6-862B-FD133394D946}" type="pres">
      <dgm:prSet presAssocID="{E1E0FC49-DB2B-48E9-83C7-73FA0297658A}" presName="node" presStyleLbl="node1" presStyleIdx="2" presStyleCnt="5">
        <dgm:presLayoutVars>
          <dgm:bulletEnabled val="1"/>
        </dgm:presLayoutVars>
      </dgm:prSet>
      <dgm:spPr/>
    </dgm:pt>
    <dgm:pt modelId="{4FADA469-DBAF-4543-9702-0D48973BE496}" type="pres">
      <dgm:prSet presAssocID="{D1AA62C4-3B6B-4D32-876D-C24B82A3F9ED}" presName="sibTrans" presStyleCnt="0"/>
      <dgm:spPr/>
    </dgm:pt>
    <dgm:pt modelId="{916F9578-7C7C-4E24-B1C6-743B1292C8D9}" type="pres">
      <dgm:prSet presAssocID="{D383137D-32D2-4C13-870E-A1E8F36ABFE8}" presName="node" presStyleLbl="node1" presStyleIdx="3" presStyleCnt="5">
        <dgm:presLayoutVars>
          <dgm:bulletEnabled val="1"/>
        </dgm:presLayoutVars>
      </dgm:prSet>
      <dgm:spPr/>
    </dgm:pt>
    <dgm:pt modelId="{445FD981-9732-4990-9952-5B6C4F3AAFDF}" type="pres">
      <dgm:prSet presAssocID="{866D0CA7-F7A0-4BB2-87BB-DE7F1D5D12AF}" presName="sibTrans" presStyleCnt="0"/>
      <dgm:spPr/>
    </dgm:pt>
    <dgm:pt modelId="{0E922330-50AD-48DA-902F-A54A61AAE7E0}" type="pres">
      <dgm:prSet presAssocID="{119C812A-927F-4C62-8B15-AFE970BEC110}" presName="node" presStyleLbl="node1" presStyleIdx="4" presStyleCnt="5">
        <dgm:presLayoutVars>
          <dgm:bulletEnabled val="1"/>
        </dgm:presLayoutVars>
      </dgm:prSet>
      <dgm:spPr/>
    </dgm:pt>
  </dgm:ptLst>
  <dgm:cxnLst>
    <dgm:cxn modelId="{F6F7850E-9711-40A0-A4CB-FCEEF98437E4}" type="presOf" srcId="{29912BFC-B719-4A6B-9C4E-63CC42B129DA}" destId="{33B854EF-A44C-4E77-A020-3FD049C3B9DC}" srcOrd="0" destOrd="0" presId="urn:microsoft.com/office/officeart/2005/8/layout/default"/>
    <dgm:cxn modelId="{22319B40-DDCA-4E96-97C6-5B993DBB9688}" srcId="{912B8C89-9E73-4747-A14E-4B672CA84E38}" destId="{29912BFC-B719-4A6B-9C4E-63CC42B129DA}" srcOrd="0" destOrd="0" parTransId="{64E87E68-496D-4DCB-A5F6-1E6E285D93DB}" sibTransId="{91DCB188-246A-4AFF-8F69-9AAF4DDFA1CC}"/>
    <dgm:cxn modelId="{FC94D65D-4A5A-4E98-94E1-B451C9F7FA44}" type="presOf" srcId="{E1E0FC49-DB2B-48E9-83C7-73FA0297658A}" destId="{A7C5812B-D2B4-4AE6-862B-FD133394D946}" srcOrd="0" destOrd="0" presId="urn:microsoft.com/office/officeart/2005/8/layout/default"/>
    <dgm:cxn modelId="{13DCA461-9E92-444C-8BB2-B3D1A7DF5D87}" type="presOf" srcId="{912B8C89-9E73-4747-A14E-4B672CA84E38}" destId="{FE0C3C45-B916-433F-B820-DB362A2E6AF9}" srcOrd="0" destOrd="0" presId="urn:microsoft.com/office/officeart/2005/8/layout/default"/>
    <dgm:cxn modelId="{9C92F276-ABB1-4229-B426-0394ED951A9F}" type="presOf" srcId="{D383137D-32D2-4C13-870E-A1E8F36ABFE8}" destId="{916F9578-7C7C-4E24-B1C6-743B1292C8D9}" srcOrd="0" destOrd="0" presId="urn:microsoft.com/office/officeart/2005/8/layout/default"/>
    <dgm:cxn modelId="{6081B65A-F966-471F-81B3-23F95D1C0CD6}" type="presOf" srcId="{E04FC624-C7DD-4913-B489-6E39BF9B5CEC}" destId="{66D20304-8E31-45A8-B10A-70518DECCC08}" srcOrd="0" destOrd="0" presId="urn:microsoft.com/office/officeart/2005/8/layout/default"/>
    <dgm:cxn modelId="{C8C72881-4F7C-446F-937D-745E74C2790C}" srcId="{912B8C89-9E73-4747-A14E-4B672CA84E38}" destId="{E04FC624-C7DD-4913-B489-6E39BF9B5CEC}" srcOrd="1" destOrd="0" parTransId="{7D3FDB02-99C5-481D-98BF-5D4BD8353B3F}" sibTransId="{04190234-71D9-42EA-88DA-271B7B0AEAB9}"/>
    <dgm:cxn modelId="{722F1B8A-783D-4BEE-96C7-F025FCB03415}" srcId="{912B8C89-9E73-4747-A14E-4B672CA84E38}" destId="{119C812A-927F-4C62-8B15-AFE970BEC110}" srcOrd="4" destOrd="0" parTransId="{E29B78D5-4D2D-43D8-9FFD-2E2D89D17DA9}" sibTransId="{1AF0A1F7-F3BB-45DF-8BF0-31ACEDE13233}"/>
    <dgm:cxn modelId="{F2D327A7-D28F-4CDC-89EF-A909A7D67EC0}" srcId="{912B8C89-9E73-4747-A14E-4B672CA84E38}" destId="{E1E0FC49-DB2B-48E9-83C7-73FA0297658A}" srcOrd="2" destOrd="0" parTransId="{A6A04B1E-8986-4CF2-B7CB-5BD53A8E67AF}" sibTransId="{D1AA62C4-3B6B-4D32-876D-C24B82A3F9ED}"/>
    <dgm:cxn modelId="{E499F5BE-58BA-4694-80A1-6C19A38D79E8}" srcId="{912B8C89-9E73-4747-A14E-4B672CA84E38}" destId="{D383137D-32D2-4C13-870E-A1E8F36ABFE8}" srcOrd="3" destOrd="0" parTransId="{6930105F-2603-4097-9F3C-4D356C6DE8AC}" sibTransId="{866D0CA7-F7A0-4BB2-87BB-DE7F1D5D12AF}"/>
    <dgm:cxn modelId="{2FD5C6E9-1C9B-44B9-916B-63F347452E89}" type="presOf" srcId="{119C812A-927F-4C62-8B15-AFE970BEC110}" destId="{0E922330-50AD-48DA-902F-A54A61AAE7E0}" srcOrd="0" destOrd="0" presId="urn:microsoft.com/office/officeart/2005/8/layout/default"/>
    <dgm:cxn modelId="{671736E4-6097-4905-9EEC-38E1BA0CF16C}" type="presParOf" srcId="{FE0C3C45-B916-433F-B820-DB362A2E6AF9}" destId="{33B854EF-A44C-4E77-A020-3FD049C3B9DC}" srcOrd="0" destOrd="0" presId="urn:microsoft.com/office/officeart/2005/8/layout/default"/>
    <dgm:cxn modelId="{4A615349-E86B-4C23-A15D-4F0F72E2575A}" type="presParOf" srcId="{FE0C3C45-B916-433F-B820-DB362A2E6AF9}" destId="{9F60FC36-3576-4AFB-BFCF-2CDA02A6840F}" srcOrd="1" destOrd="0" presId="urn:microsoft.com/office/officeart/2005/8/layout/default"/>
    <dgm:cxn modelId="{D69BE4D2-9036-49CB-849B-33449EDE78F0}" type="presParOf" srcId="{FE0C3C45-B916-433F-B820-DB362A2E6AF9}" destId="{66D20304-8E31-45A8-B10A-70518DECCC08}" srcOrd="2" destOrd="0" presId="urn:microsoft.com/office/officeart/2005/8/layout/default"/>
    <dgm:cxn modelId="{D13B0173-A48A-4A45-84BF-B5DE472F63D3}" type="presParOf" srcId="{FE0C3C45-B916-433F-B820-DB362A2E6AF9}" destId="{A2250E33-8E4A-4AE2-92B9-86D2C1088C6F}" srcOrd="3" destOrd="0" presId="urn:microsoft.com/office/officeart/2005/8/layout/default"/>
    <dgm:cxn modelId="{D8F34BC6-1D21-415C-AE26-C6CCD23235DE}" type="presParOf" srcId="{FE0C3C45-B916-433F-B820-DB362A2E6AF9}" destId="{A7C5812B-D2B4-4AE6-862B-FD133394D946}" srcOrd="4" destOrd="0" presId="urn:microsoft.com/office/officeart/2005/8/layout/default"/>
    <dgm:cxn modelId="{311C4B5D-FDB6-443B-AC07-C194AB6FCCCC}" type="presParOf" srcId="{FE0C3C45-B916-433F-B820-DB362A2E6AF9}" destId="{4FADA469-DBAF-4543-9702-0D48973BE496}" srcOrd="5" destOrd="0" presId="urn:microsoft.com/office/officeart/2005/8/layout/default"/>
    <dgm:cxn modelId="{B7EA9324-9856-4FF8-8DF3-CB3377324561}" type="presParOf" srcId="{FE0C3C45-B916-433F-B820-DB362A2E6AF9}" destId="{916F9578-7C7C-4E24-B1C6-743B1292C8D9}" srcOrd="6" destOrd="0" presId="urn:microsoft.com/office/officeart/2005/8/layout/default"/>
    <dgm:cxn modelId="{A370B650-21ED-48AB-9579-F82E73126FC3}" type="presParOf" srcId="{FE0C3C45-B916-433F-B820-DB362A2E6AF9}" destId="{445FD981-9732-4990-9952-5B6C4F3AAFDF}" srcOrd="7" destOrd="0" presId="urn:microsoft.com/office/officeart/2005/8/layout/default"/>
    <dgm:cxn modelId="{1FF80D6B-E82D-426C-BC93-C3E8683A179F}" type="presParOf" srcId="{FE0C3C45-B916-433F-B820-DB362A2E6AF9}" destId="{0E922330-50AD-48DA-902F-A54A61AAE7E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2C014F-DF3A-4DE8-AF5E-F5F3865F7068}" type="doc">
      <dgm:prSet loTypeId="urn:microsoft.com/office/officeart/2005/8/layout/rings+Icon" loCatId="officeonline" qsTypeId="urn:microsoft.com/office/officeart/2005/8/quickstyle/simple1#2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EA021F4D-E0B1-468D-A20A-05C9C53ADD8C}">
      <dgm:prSet phldrT="[Text]" phldr="0"/>
      <dgm:spPr/>
      <dgm:t>
        <a:bodyPr/>
        <a:lstStyle/>
        <a:p>
          <a:r>
            <a:rPr lang="en-US" dirty="0"/>
            <a:t>3 days – Ill food worker, contaminated facility/equipment, water served contaminated, no running water </a:t>
          </a:r>
        </a:p>
      </dgm:t>
    </dgm:pt>
    <dgm:pt modelId="{118E8659-A037-4B91-BAE4-76E439DE2AAD}" type="parTrans" cxnId="{6622EB88-105E-4A33-9EC0-A5550D731DCA}">
      <dgm:prSet/>
      <dgm:spPr/>
      <dgm:t>
        <a:bodyPr/>
        <a:lstStyle/>
        <a:p>
          <a:endParaRPr lang="en-US"/>
        </a:p>
      </dgm:t>
    </dgm:pt>
    <dgm:pt modelId="{6AD772E7-6A26-4D1E-A212-DFAB8C9FCC6C}" type="sibTrans" cxnId="{6622EB88-105E-4A33-9EC0-A5550D731DCA}">
      <dgm:prSet/>
      <dgm:spPr/>
      <dgm:t>
        <a:bodyPr/>
        <a:lstStyle/>
        <a:p>
          <a:endParaRPr lang="en-US"/>
        </a:p>
      </dgm:t>
    </dgm:pt>
    <dgm:pt modelId="{3F9FA202-124C-47ED-A7FA-5655D1C00500}">
      <dgm:prSet phldrT="[Text]"/>
      <dgm:spPr/>
      <dgm:t>
        <a:bodyPr/>
        <a:lstStyle/>
        <a:p>
          <a:r>
            <a:rPr lang="en-US" dirty="0"/>
            <a:t>21 days – Food Contaminated with Cannabis, CBD or THC</a:t>
          </a:r>
        </a:p>
      </dgm:t>
    </dgm:pt>
    <dgm:pt modelId="{C3521F4F-D4B7-43D9-95C5-47104964A572}" type="parTrans" cxnId="{DF5C9745-C67F-416E-8B2D-069E183B6CFD}">
      <dgm:prSet/>
      <dgm:spPr/>
      <dgm:t>
        <a:bodyPr/>
        <a:lstStyle/>
        <a:p>
          <a:endParaRPr lang="en-US"/>
        </a:p>
      </dgm:t>
    </dgm:pt>
    <dgm:pt modelId="{9EB886C2-8D54-4B87-974F-9974F9A2C2A4}" type="sibTrans" cxnId="{DF5C9745-C67F-416E-8B2D-069E183B6CFD}">
      <dgm:prSet/>
      <dgm:spPr/>
      <dgm:t>
        <a:bodyPr/>
        <a:lstStyle/>
        <a:p>
          <a:endParaRPr lang="en-US"/>
        </a:p>
      </dgm:t>
    </dgm:pt>
    <dgm:pt modelId="{7AB005B8-247E-45D0-A237-830809FB5850}">
      <dgm:prSet phldrT="[Text]"/>
      <dgm:spPr/>
      <dgm:t>
        <a:bodyPr/>
        <a:lstStyle/>
        <a:p>
          <a:r>
            <a:rPr lang="en-US" dirty="0"/>
            <a:t>37 days – everything else </a:t>
          </a:r>
        </a:p>
      </dgm:t>
    </dgm:pt>
    <dgm:pt modelId="{90985F26-5E55-405B-A38A-CDF4EF80135D}" type="parTrans" cxnId="{AEC3F16E-4F57-4574-A521-0204273867D2}">
      <dgm:prSet/>
      <dgm:spPr/>
      <dgm:t>
        <a:bodyPr/>
        <a:lstStyle/>
        <a:p>
          <a:endParaRPr lang="en-US"/>
        </a:p>
      </dgm:t>
    </dgm:pt>
    <dgm:pt modelId="{4EB12779-938E-4986-9311-20A63A613E4B}" type="sibTrans" cxnId="{AEC3F16E-4F57-4574-A521-0204273867D2}">
      <dgm:prSet/>
      <dgm:spPr/>
      <dgm:t>
        <a:bodyPr/>
        <a:lstStyle/>
        <a:p>
          <a:endParaRPr lang="en-US"/>
        </a:p>
      </dgm:t>
    </dgm:pt>
    <dgm:pt modelId="{0C1C8742-EFD7-46BE-BC09-B34820FD606B}" type="pres">
      <dgm:prSet presAssocID="{A22C014F-DF3A-4DE8-AF5E-F5F3865F7068}" presName="Name0" presStyleCnt="0">
        <dgm:presLayoutVars>
          <dgm:chMax val="7"/>
          <dgm:dir/>
          <dgm:resizeHandles val="exact"/>
        </dgm:presLayoutVars>
      </dgm:prSet>
      <dgm:spPr/>
    </dgm:pt>
    <dgm:pt modelId="{2B339447-FEA5-4CA8-A037-C67FF4AD6B2C}" type="pres">
      <dgm:prSet presAssocID="{A22C014F-DF3A-4DE8-AF5E-F5F3865F7068}" presName="ellipse1" presStyleLbl="vennNode1" presStyleIdx="0" presStyleCnt="3">
        <dgm:presLayoutVars>
          <dgm:bulletEnabled val="1"/>
        </dgm:presLayoutVars>
      </dgm:prSet>
      <dgm:spPr/>
    </dgm:pt>
    <dgm:pt modelId="{18F45CC6-36E0-4D5A-A6B1-9D56418B958F}" type="pres">
      <dgm:prSet presAssocID="{A22C014F-DF3A-4DE8-AF5E-F5F3865F7068}" presName="ellipse2" presStyleLbl="vennNode1" presStyleIdx="1" presStyleCnt="3">
        <dgm:presLayoutVars>
          <dgm:bulletEnabled val="1"/>
        </dgm:presLayoutVars>
      </dgm:prSet>
      <dgm:spPr/>
    </dgm:pt>
    <dgm:pt modelId="{98F026F3-CC13-4050-A0F4-1BB3A996EB02}" type="pres">
      <dgm:prSet presAssocID="{A22C014F-DF3A-4DE8-AF5E-F5F3865F7068}" presName="ellipse3" presStyleLbl="vennNode1" presStyleIdx="2" presStyleCnt="3">
        <dgm:presLayoutVars>
          <dgm:bulletEnabled val="1"/>
        </dgm:presLayoutVars>
      </dgm:prSet>
      <dgm:spPr/>
    </dgm:pt>
  </dgm:ptLst>
  <dgm:cxnLst>
    <dgm:cxn modelId="{6524F703-1D65-4401-A20D-B1F914948051}" type="presOf" srcId="{7AB005B8-247E-45D0-A237-830809FB5850}" destId="{18F45CC6-36E0-4D5A-A6B1-9D56418B958F}" srcOrd="0" destOrd="0" presId="urn:microsoft.com/office/officeart/2005/8/layout/rings+Icon"/>
    <dgm:cxn modelId="{DF5C9745-C67F-416E-8B2D-069E183B6CFD}" srcId="{A22C014F-DF3A-4DE8-AF5E-F5F3865F7068}" destId="{3F9FA202-124C-47ED-A7FA-5655D1C00500}" srcOrd="2" destOrd="0" parTransId="{C3521F4F-D4B7-43D9-95C5-47104964A572}" sibTransId="{9EB886C2-8D54-4B87-974F-9974F9A2C2A4}"/>
    <dgm:cxn modelId="{AEC3F16E-4F57-4574-A521-0204273867D2}" srcId="{A22C014F-DF3A-4DE8-AF5E-F5F3865F7068}" destId="{7AB005B8-247E-45D0-A237-830809FB5850}" srcOrd="1" destOrd="0" parTransId="{90985F26-5E55-405B-A38A-CDF4EF80135D}" sibTransId="{4EB12779-938E-4986-9311-20A63A613E4B}"/>
    <dgm:cxn modelId="{6622EB88-105E-4A33-9EC0-A5550D731DCA}" srcId="{A22C014F-DF3A-4DE8-AF5E-F5F3865F7068}" destId="{EA021F4D-E0B1-468D-A20A-05C9C53ADD8C}" srcOrd="0" destOrd="0" parTransId="{118E8659-A037-4B91-BAE4-76E439DE2AAD}" sibTransId="{6AD772E7-6A26-4D1E-A212-DFAB8C9FCC6C}"/>
    <dgm:cxn modelId="{3E455AC2-D82C-4F1D-8535-9DF2F3017FDF}" type="presOf" srcId="{EA021F4D-E0B1-468D-A20A-05C9C53ADD8C}" destId="{2B339447-FEA5-4CA8-A037-C67FF4AD6B2C}" srcOrd="0" destOrd="0" presId="urn:microsoft.com/office/officeart/2005/8/layout/rings+Icon"/>
    <dgm:cxn modelId="{15C08AE9-0A2F-44F4-97FA-7C898B9377E3}" type="presOf" srcId="{3F9FA202-124C-47ED-A7FA-5655D1C00500}" destId="{98F026F3-CC13-4050-A0F4-1BB3A996EB02}" srcOrd="0" destOrd="0" presId="urn:microsoft.com/office/officeart/2005/8/layout/rings+Icon"/>
    <dgm:cxn modelId="{F0492BF2-77EE-4756-B684-55A52CDA039A}" type="presOf" srcId="{A22C014F-DF3A-4DE8-AF5E-F5F3865F7068}" destId="{0C1C8742-EFD7-46BE-BC09-B34820FD606B}" srcOrd="0" destOrd="0" presId="urn:microsoft.com/office/officeart/2005/8/layout/rings+Icon"/>
    <dgm:cxn modelId="{5C5E84C2-0C85-4ACA-BA1D-F5D59BC44605}" type="presParOf" srcId="{0C1C8742-EFD7-46BE-BC09-B34820FD606B}" destId="{2B339447-FEA5-4CA8-A037-C67FF4AD6B2C}" srcOrd="0" destOrd="0" presId="urn:microsoft.com/office/officeart/2005/8/layout/rings+Icon"/>
    <dgm:cxn modelId="{5D6EA76A-041C-4CC5-AC5F-42559F5EA8EE}" type="presParOf" srcId="{0C1C8742-EFD7-46BE-BC09-B34820FD606B}" destId="{18F45CC6-36E0-4D5A-A6B1-9D56418B958F}" srcOrd="1" destOrd="0" presId="urn:microsoft.com/office/officeart/2005/8/layout/rings+Icon"/>
    <dgm:cxn modelId="{CD347DA7-1EC1-4032-BC29-9BFC59305A66}" type="presParOf" srcId="{0C1C8742-EFD7-46BE-BC09-B34820FD606B}" destId="{98F026F3-CC13-4050-A0F4-1BB3A996EB02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B854EF-A44C-4E77-A020-3FD049C3B9DC}">
      <dsp:nvSpPr>
        <dsp:cNvPr id="0" name=""/>
        <dsp:cNvSpPr/>
      </dsp:nvSpPr>
      <dsp:spPr>
        <a:xfrm>
          <a:off x="714" y="7702"/>
          <a:ext cx="2787452" cy="1672471"/>
        </a:xfrm>
        <a:prstGeom prst="rect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effectLst/>
            </a:rPr>
            <a:t>The NYC Health Department has responded to your service request. Restaurant inspection information can be found online at www.nyc.gov/health/abceats. This service request has been closed. (26,984)</a:t>
          </a:r>
          <a:endParaRPr lang="en-US" sz="1100" kern="1200" dirty="0"/>
        </a:p>
      </dsp:txBody>
      <dsp:txXfrm>
        <a:off x="714" y="7702"/>
        <a:ext cx="2787452" cy="1672471"/>
      </dsp:txXfrm>
    </dsp:sp>
    <dsp:sp modelId="{66D20304-8E31-45A8-B10A-70518DECCC08}">
      <dsp:nvSpPr>
        <dsp:cNvPr id="0" name=""/>
        <dsp:cNvSpPr/>
      </dsp:nvSpPr>
      <dsp:spPr>
        <a:xfrm>
          <a:off x="3067626" y="18088"/>
          <a:ext cx="2787452" cy="1672471"/>
        </a:xfrm>
        <a:prstGeom prst="rect">
          <a:avLst/>
        </a:prstGeom>
        <a:solidFill>
          <a:schemeClr val="accent3">
            <a:shade val="50000"/>
            <a:hueOff val="-106596"/>
            <a:satOff val="-23032"/>
            <a:lumOff val="220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effectLst/>
            </a:rPr>
            <a:t>This SR was administratively closed. The issue you reported was addressed. (13,378)</a:t>
          </a:r>
          <a:endParaRPr lang="en-US" sz="1100" kern="1200" dirty="0"/>
        </a:p>
      </dsp:txBody>
      <dsp:txXfrm>
        <a:off x="3067626" y="18088"/>
        <a:ext cx="2787452" cy="1672471"/>
      </dsp:txXfrm>
    </dsp:sp>
    <dsp:sp modelId="{A7C5812B-D2B4-4AE6-862B-FD133394D946}">
      <dsp:nvSpPr>
        <dsp:cNvPr id="0" name=""/>
        <dsp:cNvSpPr/>
      </dsp:nvSpPr>
      <dsp:spPr>
        <a:xfrm>
          <a:off x="714" y="1958918"/>
          <a:ext cx="2787452" cy="1672471"/>
        </a:xfrm>
        <a:prstGeom prst="rect">
          <a:avLst/>
        </a:prstGeom>
        <a:solidFill>
          <a:schemeClr val="accent3">
            <a:shade val="50000"/>
            <a:hueOff val="-213193"/>
            <a:satOff val="-46063"/>
            <a:lumOff val="440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effectLst/>
            </a:rPr>
            <a:t>The Department of Health and Mental Hygiene has determined that the reported incident is isolated. The establishment will be inspected according to its normal schedule for sanitary inspections. (5,464)</a:t>
          </a:r>
          <a:endParaRPr lang="en-US" sz="1100" kern="1200" dirty="0"/>
        </a:p>
      </dsp:txBody>
      <dsp:txXfrm>
        <a:off x="714" y="1958918"/>
        <a:ext cx="2787452" cy="1672471"/>
      </dsp:txXfrm>
    </dsp:sp>
    <dsp:sp modelId="{916F9578-7C7C-4E24-B1C6-743B1292C8D9}">
      <dsp:nvSpPr>
        <dsp:cNvPr id="0" name=""/>
        <dsp:cNvSpPr/>
      </dsp:nvSpPr>
      <dsp:spPr>
        <a:xfrm>
          <a:off x="3066912" y="1958918"/>
          <a:ext cx="2787452" cy="1672471"/>
        </a:xfrm>
        <a:prstGeom prst="rect">
          <a:avLst/>
        </a:prstGeom>
        <a:solidFill>
          <a:schemeClr val="accent3">
            <a:shade val="50000"/>
            <a:hueOff val="-213193"/>
            <a:satOff val="-46063"/>
            <a:lumOff val="440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effectLst/>
            </a:rPr>
            <a:t>The Department of Health and Mental Hygiene has sent official written notification to the Owner/Landlord warning them of potential violations and instructing them to correct the situation. If the situation persists 21 days after your initial complaint, please make a new complaint (1987)</a:t>
          </a:r>
          <a:endParaRPr lang="en-US" sz="1100" kern="1200" dirty="0"/>
        </a:p>
      </dsp:txBody>
      <dsp:txXfrm>
        <a:off x="3066912" y="1958918"/>
        <a:ext cx="2787452" cy="1672471"/>
      </dsp:txXfrm>
    </dsp:sp>
    <dsp:sp modelId="{0E922330-50AD-48DA-902F-A54A61AAE7E0}">
      <dsp:nvSpPr>
        <dsp:cNvPr id="0" name=""/>
        <dsp:cNvSpPr/>
      </dsp:nvSpPr>
      <dsp:spPr>
        <a:xfrm>
          <a:off x="1533813" y="3910135"/>
          <a:ext cx="2787452" cy="1672471"/>
        </a:xfrm>
        <a:prstGeom prst="rect">
          <a:avLst/>
        </a:prstGeom>
        <a:solidFill>
          <a:schemeClr val="accent3">
            <a:shade val="50000"/>
            <a:hueOff val="-106596"/>
            <a:satOff val="-23032"/>
            <a:lumOff val="220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effectLst/>
            </a:rPr>
            <a:t>The Department of Health and Mental Hygiene has sent official written notification to the Owner/Landlord warning them of potential violations and instructing them to correct the situation. If the situation persists 21 days after your initial complaint, please make a new complaint. (1471)</a:t>
          </a:r>
          <a:endParaRPr lang="en-US" sz="1100" kern="1200" dirty="0"/>
        </a:p>
      </dsp:txBody>
      <dsp:txXfrm>
        <a:off x="1533813" y="3910135"/>
        <a:ext cx="2787452" cy="16724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339447-FEA5-4CA8-A037-C67FF4AD6B2C}">
      <dsp:nvSpPr>
        <dsp:cNvPr id="0" name=""/>
        <dsp:cNvSpPr/>
      </dsp:nvSpPr>
      <dsp:spPr>
        <a:xfrm>
          <a:off x="1744224" y="0"/>
          <a:ext cx="1806534" cy="18065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3 days – Ill food worker, contaminated facility/equipment, water served contaminated, no running water </a:t>
          </a:r>
        </a:p>
      </dsp:txBody>
      <dsp:txXfrm>
        <a:off x="2008785" y="264557"/>
        <a:ext cx="1277412" cy="1277394"/>
      </dsp:txXfrm>
    </dsp:sp>
    <dsp:sp modelId="{18F45CC6-36E0-4D5A-A6B1-9D56418B958F}">
      <dsp:nvSpPr>
        <dsp:cNvPr id="0" name=""/>
        <dsp:cNvSpPr/>
      </dsp:nvSpPr>
      <dsp:spPr>
        <a:xfrm>
          <a:off x="2674064" y="1204841"/>
          <a:ext cx="1806534" cy="18065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37 days – everything else </a:t>
          </a:r>
        </a:p>
      </dsp:txBody>
      <dsp:txXfrm>
        <a:off x="2938625" y="1469398"/>
        <a:ext cx="1277412" cy="1277394"/>
      </dsp:txXfrm>
    </dsp:sp>
    <dsp:sp modelId="{98F026F3-CC13-4050-A0F4-1BB3A996EB02}">
      <dsp:nvSpPr>
        <dsp:cNvPr id="0" name=""/>
        <dsp:cNvSpPr/>
      </dsp:nvSpPr>
      <dsp:spPr>
        <a:xfrm>
          <a:off x="3602804" y="0"/>
          <a:ext cx="1806534" cy="1806508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21 days – Food Contaminated with Cannabis, CBD or THC</a:t>
          </a:r>
        </a:p>
      </dsp:txBody>
      <dsp:txXfrm>
        <a:off x="3867365" y="264557"/>
        <a:ext cx="1277412" cy="1277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923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316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responds to tattoo </a:t>
            </a:r>
            <a:r>
              <a:rPr lang="en-US" dirty="0" err="1"/>
              <a:t>parlours</a:t>
            </a:r>
            <a:r>
              <a:rPr lang="en-US" dirty="0"/>
              <a:t>, poison ivy, heat.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078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52083 rows × 44 columns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758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4.5 in progress</a:t>
            </a:r>
          </a:p>
          <a:p>
            <a:endParaRPr lang="en-US" dirty="0"/>
          </a:p>
          <a:p>
            <a:r>
              <a:rPr lang="en-US" dirty="0"/>
              <a:t>Not necessarily not investigated, just not closed administratively </a:t>
            </a:r>
          </a:p>
          <a:p>
            <a:endParaRPr lang="en-US" dirty="0"/>
          </a:p>
          <a:p>
            <a:r>
              <a:rPr lang="en-US" dirty="0"/>
              <a:t>Resolutions are </a:t>
            </a:r>
            <a:r>
              <a:rPr lang="en-US" dirty="0" err="1"/>
              <a:t>repetive</a:t>
            </a:r>
            <a:r>
              <a:rPr lang="en-US" dirty="0"/>
              <a:t> and ambiguous – hard to analyze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6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 Last updated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March 5, 2024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550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number of complaints increasing and response time deceasing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047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187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377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12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cityofnewyork.us/City-Government/311-Service-Level-Agreements/cs9t-e3x8/about_dat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>
            <a:normAutofit/>
          </a:bodyPr>
          <a:lstStyle/>
          <a:p>
            <a:r>
              <a:rPr lang="en-US" dirty="0"/>
              <a:t>To complain or not to complain?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Analysis by Faith Forde </a:t>
            </a:r>
          </a:p>
          <a:p>
            <a:r>
              <a:rPr lang="en-US" dirty="0"/>
              <a:t>September 2026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E7FCC26-872C-0F45-4024-9AEEC7737075}"/>
              </a:ext>
            </a:extLst>
          </p:cNvPr>
          <p:cNvSpPr txBox="1">
            <a:spLocks/>
          </p:cNvSpPr>
          <p:nvPr/>
        </p:nvSpPr>
        <p:spPr>
          <a:xfrm>
            <a:off x="2545772" y="5455375"/>
            <a:ext cx="8686801" cy="54790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4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3-year analysis of  NYC DOHMH’s response to 311 complaints for Food Service Establishment 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/>
          <a:lstStyle/>
          <a:p>
            <a:r>
              <a:rPr lang="en-US" dirty="0"/>
              <a:t>Welcome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5" y="1662546"/>
            <a:ext cx="4726617" cy="48616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I work as a Health (Restaurant) Inspector at NYC Department of Health &amp; Mental Hygiene </a:t>
            </a:r>
          </a:p>
          <a:p>
            <a:r>
              <a:rPr lang="en-US" dirty="0"/>
              <a:t>in the complaints unit (responding to 311 complaints related to food service establishments and tattoos)</a:t>
            </a:r>
          </a:p>
          <a:p>
            <a:r>
              <a:rPr lang="en-US" sz="1200" b="1" dirty="0"/>
              <a:t>DISCLAIMER: This project represents all of my own original thoughts and not those of my department or agency </a:t>
            </a:r>
          </a:p>
          <a:p>
            <a:r>
              <a:rPr lang="en-US" dirty="0"/>
              <a:t>A 311 Service Request is a customer request for a City Agency’s attention and response to a particular condition or situation (1)</a:t>
            </a:r>
          </a:p>
          <a:p>
            <a:r>
              <a:rPr lang="en-US" dirty="0"/>
              <a:t>This database shows where the complaints unit work assignments are sourced. </a:t>
            </a:r>
          </a:p>
          <a:p>
            <a:r>
              <a:rPr lang="en-US" dirty="0"/>
              <a:t>The analysis show how well  the complaints unit is responding </a:t>
            </a:r>
          </a:p>
          <a:p>
            <a:r>
              <a:rPr lang="en-US" dirty="0"/>
              <a:t>I conclude with ways to improve the response to the complaints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EF7C63B-3F36-C835-87EF-6EE2FEE1DC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54" r="11854"/>
          <a:stretch>
            <a:fillRect/>
          </a:stretch>
        </p:blipFill>
        <p:spPr>
          <a:xfrm rot="5400000">
            <a:off x="5697537" y="385762"/>
            <a:ext cx="6191250" cy="6086475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4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566B-B9F5-89F0-05F0-4D7A8702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782778"/>
            <a:ext cx="10653578" cy="1132258"/>
          </a:xfrm>
        </p:spPr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AABED-4EBD-C796-4CBD-19429671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22" y="1918145"/>
            <a:ext cx="10653579" cy="4593828"/>
          </a:xfrm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</a:pPr>
            <a:r>
              <a:rPr lang="en-US" sz="1800" b="1" dirty="0"/>
              <a:t>Goal – </a:t>
            </a:r>
            <a:r>
              <a:rPr lang="en-US" sz="1800" dirty="0"/>
              <a:t>Analyze the New York City Department of Health and Mental Hygiene Bureau of Food Safety and Community Sanitation Complaints Unit response to 311 service requests over the last 3 years. </a:t>
            </a:r>
          </a:p>
          <a:p>
            <a:pPr>
              <a:spcAft>
                <a:spcPts val="1400"/>
              </a:spcAft>
            </a:pPr>
            <a:r>
              <a:rPr lang="en-US" sz="1800" b="1" dirty="0"/>
              <a:t>Data Source: </a:t>
            </a:r>
            <a:r>
              <a:rPr lang="en-US" sz="1800" dirty="0"/>
              <a:t>NYC Open Data — “311 Service Requests from 2020 to Present” (1) </a:t>
            </a:r>
          </a:p>
          <a:p>
            <a:pPr lvl="1">
              <a:spcAft>
                <a:spcPts val="1400"/>
              </a:spcAft>
            </a:pPr>
            <a:r>
              <a:rPr lang="en-US" sz="1600" b="1" dirty="0"/>
              <a:t>Study period: </a:t>
            </a:r>
            <a:r>
              <a:rPr lang="en-US" sz="1600" dirty="0"/>
              <a:t>January 1, 2023–August 31, 2026</a:t>
            </a:r>
          </a:p>
          <a:p>
            <a:pPr lvl="1">
              <a:spcAft>
                <a:spcPts val="1400"/>
              </a:spcAft>
            </a:pPr>
            <a:r>
              <a:rPr lang="en-US" sz="1800" b="1" dirty="0"/>
              <a:t>Scope: </a:t>
            </a:r>
            <a:r>
              <a:rPr lang="en-US" sz="1800" dirty="0"/>
              <a:t>DOHMH requests involving food service establishments</a:t>
            </a:r>
          </a:p>
          <a:p>
            <a:pPr lvl="1">
              <a:spcAft>
                <a:spcPts val="1400"/>
              </a:spcAft>
            </a:pPr>
            <a:r>
              <a:rPr lang="en-US" sz="1800" dirty="0"/>
              <a:t>Project involves Pandas, </a:t>
            </a:r>
            <a:r>
              <a:rPr lang="en-US" sz="1800" dirty="0" err="1"/>
              <a:t>mathplotlib.pyplot</a:t>
            </a:r>
            <a:r>
              <a:rPr lang="en-US" sz="1800" dirty="0"/>
              <a:t>, </a:t>
            </a:r>
            <a:r>
              <a:rPr lang="en-US" sz="1800" dirty="0" err="1"/>
              <a:t>plotly.express</a:t>
            </a:r>
            <a:endParaRPr lang="en-US" sz="1800" dirty="0"/>
          </a:p>
          <a:p>
            <a:pPr lvl="2">
              <a:spcAft>
                <a:spcPts val="1400"/>
              </a:spcAft>
            </a:pPr>
            <a:r>
              <a:rPr lang="en-US" sz="1700" dirty="0" err="1"/>
              <a:t>dtypes</a:t>
            </a:r>
            <a:r>
              <a:rPr lang="en-US" sz="1700" dirty="0"/>
              <a:t> conversion, subset </a:t>
            </a:r>
            <a:r>
              <a:rPr lang="en-US" sz="1700" dirty="0" err="1"/>
              <a:t>dataframe</a:t>
            </a:r>
            <a:r>
              <a:rPr lang="en-US" sz="1700" dirty="0"/>
              <a:t> with limited columns, </a:t>
            </a:r>
            <a:r>
              <a:rPr lang="en-US" sz="1700" dirty="0" err="1"/>
              <a:t>groupby</a:t>
            </a:r>
            <a:r>
              <a:rPr lang="en-US" sz="1700" dirty="0"/>
              <a:t>, .plot, .</a:t>
            </a:r>
            <a:r>
              <a:rPr lang="en-US" sz="1700" dirty="0" err="1"/>
              <a:t>px.treemap</a:t>
            </a:r>
            <a:r>
              <a:rPr lang="en-US" sz="1700" dirty="0"/>
              <a:t>, normalize, head(20) , drop columns </a:t>
            </a:r>
          </a:p>
        </p:txBody>
      </p:sp>
    </p:spTree>
    <p:extLst>
      <p:ext uri="{BB962C8B-B14F-4D97-AF65-F5344CB8AC3E}">
        <p14:creationId xmlns:p14="http://schemas.microsoft.com/office/powerpoint/2010/main" val="2442537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CC9C-AE86-D77D-2F74-8B39860A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485" y="1437901"/>
            <a:ext cx="2972495" cy="3414946"/>
          </a:xfrm>
        </p:spPr>
        <p:txBody>
          <a:bodyPr>
            <a:normAutofit/>
          </a:bodyPr>
          <a:lstStyle/>
          <a:p>
            <a:r>
              <a:rPr lang="en-US" dirty="0"/>
              <a:t>complaints from January 1, 2023 – August 31</a:t>
            </a:r>
            <a:r>
              <a:rPr lang="en-US" baseline="30000" dirty="0"/>
              <a:t>st</a:t>
            </a:r>
            <a:r>
              <a:rPr lang="en-US" dirty="0"/>
              <a:t>, 2026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39 complaints per day</a:t>
            </a:r>
            <a:br>
              <a:rPr lang="en-US" b="1" dirty="0"/>
            </a:br>
            <a:br>
              <a:rPr lang="en-US" dirty="0"/>
            </a:br>
            <a:r>
              <a:rPr lang="en-US" b="1" dirty="0"/>
              <a:t>2 per (24)hour</a:t>
            </a:r>
            <a:br>
              <a:rPr lang="en-US" b="1" dirty="0"/>
            </a:br>
            <a:br>
              <a:rPr lang="en-US" b="1" dirty="0"/>
            </a:br>
            <a:r>
              <a:rPr lang="en-US" sz="1400" b="1" dirty="0"/>
              <a:t>(5 per workday)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A463-F531-1FC1-6826-167C367BDD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32107"/>
            <a:ext cx="3933305" cy="1439687"/>
          </a:xfrm>
        </p:spPr>
        <p:txBody>
          <a:bodyPr>
            <a:normAutofit/>
          </a:bodyPr>
          <a:lstStyle/>
          <a:p>
            <a:r>
              <a:rPr lang="en-US" sz="4800" dirty="0"/>
              <a:t>52,082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24D1EB-A0FD-8D75-E5A8-702F7FBC3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963" y="526788"/>
            <a:ext cx="3933305" cy="30850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7870B8-27E9-F6F3-DCF9-055057267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96" t="19420" r="5873" b="14623"/>
          <a:stretch>
            <a:fillRect/>
          </a:stretch>
        </p:blipFill>
        <p:spPr>
          <a:xfrm>
            <a:off x="2740322" y="3429000"/>
            <a:ext cx="9030500" cy="29022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2CF998-FBB4-0CFC-F158-396D243F7A54}"/>
              </a:ext>
            </a:extLst>
          </p:cNvPr>
          <p:cNvSpPr txBox="1"/>
          <p:nvPr/>
        </p:nvSpPr>
        <p:spPr>
          <a:xfrm>
            <a:off x="3660390" y="3145374"/>
            <a:ext cx="3035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20 complaints</a:t>
            </a:r>
          </a:p>
        </p:txBody>
      </p:sp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7D919C-7297-D887-5F36-5B1DD1DA1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64" y="1407514"/>
            <a:ext cx="4306833" cy="3758191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5481E4E-7D13-AF7B-15A5-BA5F7DC669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6437450"/>
              </p:ext>
            </p:extLst>
          </p:nvPr>
        </p:nvGraphicFramePr>
        <p:xfrm>
          <a:off x="5870864" y="914400"/>
          <a:ext cx="5855079" cy="5590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A80EEE9-8FF3-CD6E-7DD3-63057E6B79D7}"/>
              </a:ext>
            </a:extLst>
          </p:cNvPr>
          <p:cNvSpPr txBox="1"/>
          <p:nvPr/>
        </p:nvSpPr>
        <p:spPr>
          <a:xfrm>
            <a:off x="5496791" y="249382"/>
            <a:ext cx="6334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Department’s top 5 responses when closing complaints </a:t>
            </a:r>
          </a:p>
        </p:txBody>
      </p:sp>
    </p:spTree>
    <p:extLst>
      <p:ext uri="{BB962C8B-B14F-4D97-AF65-F5344CB8AC3E}">
        <p14:creationId xmlns:p14="http://schemas.microsoft.com/office/powerpoint/2010/main" val="10231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F433-AE32-5FF3-EFB5-CEEF7F842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83274"/>
            <a:ext cx="10653578" cy="1132258"/>
          </a:xfrm>
        </p:spPr>
        <p:txBody>
          <a:bodyPr/>
          <a:lstStyle/>
          <a:p>
            <a:pPr algn="ctr"/>
            <a:r>
              <a:rPr lang="en-US" dirty="0"/>
              <a:t>How do we measure performance?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A685F-E641-68E6-2122-547C613B9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Service Level Agreement (SLA) is a period of time defined by the receiving Agency  in order to provide the customer with the expected time until an update or final resolution of 311 service request. (2)</a:t>
            </a:r>
          </a:p>
          <a:p>
            <a:r>
              <a:rPr lang="en-US" dirty="0"/>
              <a:t>This represents the time the agency projects for their initial response to a specific type of problem.  </a:t>
            </a:r>
          </a:p>
          <a:p>
            <a:pPr lvl="1"/>
            <a:r>
              <a:rPr lang="en-US" dirty="0" err="1"/>
              <a:t>n.b</a:t>
            </a:r>
            <a:r>
              <a:rPr lang="en-US" dirty="0"/>
              <a:t> This can the time for first response and not necessarily the final resolution of the problem. </a:t>
            </a:r>
          </a:p>
          <a:p>
            <a:pPr lvl="1"/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34508E7-56CD-9F8A-2EB7-F82B96717A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2735368"/>
              </p:ext>
            </p:extLst>
          </p:nvPr>
        </p:nvGraphicFramePr>
        <p:xfrm>
          <a:off x="1782617" y="3298010"/>
          <a:ext cx="7153564" cy="3011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E36F38-87F8-8156-2A84-074FED748B7D}"/>
              </a:ext>
            </a:extLst>
          </p:cNvPr>
          <p:cNvSpPr txBox="1"/>
          <p:nvPr/>
        </p:nvSpPr>
        <p:spPr>
          <a:xfrm>
            <a:off x="6338455" y="5940028"/>
            <a:ext cx="287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of March, 2024 (2)</a:t>
            </a:r>
          </a:p>
        </p:txBody>
      </p:sp>
    </p:spTree>
    <p:extLst>
      <p:ext uri="{BB962C8B-B14F-4D97-AF65-F5344CB8AC3E}">
        <p14:creationId xmlns:p14="http://schemas.microsoft.com/office/powerpoint/2010/main" val="191154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D5804-C665-F2D0-E9D5-C90C60915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800" y="714961"/>
            <a:ext cx="4678819" cy="932688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3400" dirty="0"/>
              <a:t>How is the Department doing?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E3D0A3-09CE-94FC-C821-4D06C5A07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596806"/>
              </p:ext>
            </p:extLst>
          </p:nvPr>
        </p:nvGraphicFramePr>
        <p:xfrm>
          <a:off x="814145" y="2256838"/>
          <a:ext cx="5940333" cy="326174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264424">
                  <a:extLst>
                    <a:ext uri="{9D8B030D-6E8A-4147-A177-3AD203B41FA5}">
                      <a16:colId xmlns:a16="http://schemas.microsoft.com/office/drawing/2014/main" val="163926310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394128167"/>
                    </a:ext>
                  </a:extLst>
                </a:gridCol>
                <a:gridCol w="1059873">
                  <a:extLst>
                    <a:ext uri="{9D8B030D-6E8A-4147-A177-3AD203B41FA5}">
                      <a16:colId xmlns:a16="http://schemas.microsoft.com/office/drawing/2014/main" val="1798393416"/>
                    </a:ext>
                  </a:extLst>
                </a:gridCol>
                <a:gridCol w="1080654">
                  <a:extLst>
                    <a:ext uri="{9D8B030D-6E8A-4147-A177-3AD203B41FA5}">
                      <a16:colId xmlns:a16="http://schemas.microsoft.com/office/drawing/2014/main" val="4279149484"/>
                    </a:ext>
                  </a:extLst>
                </a:gridCol>
                <a:gridCol w="883227">
                  <a:extLst>
                    <a:ext uri="{9D8B030D-6E8A-4147-A177-3AD203B41FA5}">
                      <a16:colId xmlns:a16="http://schemas.microsoft.com/office/drawing/2014/main" val="2126524303"/>
                    </a:ext>
                  </a:extLst>
                </a:gridCol>
                <a:gridCol w="852055">
                  <a:extLst>
                    <a:ext uri="{9D8B030D-6E8A-4147-A177-3AD203B41FA5}">
                      <a16:colId xmlns:a16="http://schemas.microsoft.com/office/drawing/2014/main" val="4109470200"/>
                    </a:ext>
                  </a:extLst>
                </a:gridCol>
              </a:tblGrid>
              <a:tr h="74613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Created Date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1676" marT="28022" marB="210165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count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1676" marT="28022" marB="210165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mean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1676" marT="28022" marB="210165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std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1676" marT="28022" marB="210165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median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1676" marT="28022" marB="210165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max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1676" marT="28022" marB="210165" anchor="b"/>
                </a:tc>
                <a:extLst>
                  <a:ext uri="{0D108BD9-81ED-4DB2-BD59-A6C34878D82A}">
                    <a16:rowId xmlns:a16="http://schemas.microsoft.com/office/drawing/2014/main" val="1726455636"/>
                  </a:ext>
                </a:extLst>
              </a:tr>
              <a:tr h="628903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2023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12,934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282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155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302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689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extLst>
                  <a:ext uri="{0D108BD9-81ED-4DB2-BD59-A6C34878D82A}">
                    <a16:rowId xmlns:a16="http://schemas.microsoft.com/office/drawing/2014/main" val="1043090418"/>
                  </a:ext>
                </a:extLst>
              </a:tr>
              <a:tr h="628903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2024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13,986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124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117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746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extLst>
                  <a:ext uri="{0D108BD9-81ED-4DB2-BD59-A6C34878D82A}">
                    <a16:rowId xmlns:a16="http://schemas.microsoft.com/office/drawing/2014/main" val="1446828539"/>
                  </a:ext>
                </a:extLst>
              </a:tr>
              <a:tr h="628903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2025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14,131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55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38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422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extLst>
                  <a:ext uri="{0D108BD9-81ED-4DB2-BD59-A6C34878D82A}">
                    <a16:rowId xmlns:a16="http://schemas.microsoft.com/office/drawing/2014/main" val="3942369061"/>
                  </a:ext>
                </a:extLst>
              </a:tr>
              <a:tr h="628903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2026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8,655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48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21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237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Poppins Light" panose="00000400000000000000" pitchFamily="2" charset="0"/>
                      </a:endParaRPr>
                    </a:p>
                  </a:txBody>
                  <a:tcPr marL="98077" marR="105082" marT="28022" marB="210165"/>
                </a:tc>
                <a:extLst>
                  <a:ext uri="{0D108BD9-81ED-4DB2-BD59-A6C34878D82A}">
                    <a16:rowId xmlns:a16="http://schemas.microsoft.com/office/drawing/2014/main" val="380012929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CBEF3C1-B7D6-B1DA-F680-39B059382CDA}"/>
              </a:ext>
            </a:extLst>
          </p:cNvPr>
          <p:cNvSpPr txBox="1"/>
          <p:nvPr/>
        </p:nvSpPr>
        <p:spPr>
          <a:xfrm>
            <a:off x="1195341" y="5518584"/>
            <a:ext cx="5559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Number of days to close a complaint, by year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A80339-173B-443D-5B5B-A94FA46E20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54"/>
          <a:stretch>
            <a:fillRect/>
          </a:stretch>
        </p:blipFill>
        <p:spPr>
          <a:xfrm>
            <a:off x="7486269" y="3176861"/>
            <a:ext cx="4089204" cy="32617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9923B5-FF90-E6A1-47E2-26CE79791B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58"/>
          <a:stretch>
            <a:fillRect/>
          </a:stretch>
        </p:blipFill>
        <p:spPr>
          <a:xfrm>
            <a:off x="7886700" y="395287"/>
            <a:ext cx="3491155" cy="278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97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EFB0-A7A0-5EF3-8969-2555EE83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98022"/>
            <a:ext cx="10653578" cy="1132258"/>
          </a:xfrm>
        </p:spPr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3190F-F43A-5FA1-E12A-1DD737A77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466150"/>
            <a:ext cx="10653579" cy="4593828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5 complaints per work hour per day - Number trending upwards with a steady increase </a:t>
            </a:r>
          </a:p>
          <a:p>
            <a:r>
              <a:rPr lang="en-US" sz="2000" dirty="0"/>
              <a:t>Department is getting faster at closing service requests (closing) year by year</a:t>
            </a:r>
          </a:p>
          <a:p>
            <a:r>
              <a:rPr lang="en-US" sz="2000" dirty="0"/>
              <a:t>Resolution are ambiguous and hard to analyze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Next steps /studies </a:t>
            </a:r>
          </a:p>
          <a:p>
            <a:pPr lvl="1"/>
            <a:r>
              <a:rPr lang="en-US" sz="2000" dirty="0"/>
              <a:t>Find busy complaint months and the department can plan work schedules better to ensure fast responses </a:t>
            </a:r>
          </a:p>
          <a:p>
            <a:pPr lvl="1"/>
            <a:r>
              <a:rPr lang="en-US" sz="2000" dirty="0"/>
              <a:t>Clearly define the resolutions</a:t>
            </a:r>
          </a:p>
          <a:p>
            <a:pPr lvl="1"/>
            <a:r>
              <a:rPr lang="en-US" sz="2000" dirty="0"/>
              <a:t>Communicate with the public what is allowed or not </a:t>
            </a:r>
          </a:p>
          <a:p>
            <a:pPr marL="228600" lvl="1" indent="0">
              <a:buNone/>
            </a:pPr>
            <a:endParaRPr lang="en-US" sz="20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687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95F0-8D6C-316A-A615-70CDCF602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811" y="1494213"/>
            <a:ext cx="10653578" cy="1132258"/>
          </a:xfrm>
        </p:spPr>
        <p:txBody>
          <a:bodyPr/>
          <a:lstStyle/>
          <a:p>
            <a:pPr algn="ctr"/>
            <a:r>
              <a:rPr lang="en-US" dirty="0"/>
              <a:t>To complain or not to complain? 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F329C-E0DB-3F8A-01AD-F61469640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076741"/>
            <a:ext cx="10653579" cy="4593828"/>
          </a:xfrm>
        </p:spPr>
        <p:txBody>
          <a:bodyPr/>
          <a:lstStyle/>
          <a:p>
            <a:pPr marL="228600" lvl="1" indent="0" algn="ctr">
              <a:buNone/>
            </a:pPr>
            <a:r>
              <a:rPr lang="en-US" sz="7200" dirty="0">
                <a:solidFill>
                  <a:srgbClr val="FF0000"/>
                </a:solidFill>
                <a:latin typeface="+mj-lt"/>
              </a:rPr>
              <a:t>YES!</a:t>
            </a:r>
          </a:p>
          <a:p>
            <a:pPr marL="228600" lvl="1" indent="0" algn="ctr">
              <a:buNone/>
            </a:pPr>
            <a:r>
              <a:rPr lang="en-US" sz="1800" dirty="0">
                <a:latin typeface="+mj-lt"/>
              </a:rPr>
              <a:t>you are being heard and answered!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75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072A-5F3E-FB56-A498-3CACC2B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cap="none" dirty="0"/>
              <a:t>“If you complain to someone, you assume that it's someone who really cares about you.” – </a:t>
            </a:r>
            <a:r>
              <a:rPr lang="en-US" sz="3200" b="1" cap="none" dirty="0"/>
              <a:t>Scott Hahn</a:t>
            </a:r>
            <a:endParaRPr lang="en-US" sz="3200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EDA3D-7A3B-89EE-20EE-3C5855352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5036" y="4428572"/>
            <a:ext cx="4115876" cy="1649694"/>
          </a:xfrm>
        </p:spPr>
        <p:txBody>
          <a:bodyPr anchor="t">
            <a:normAutofit fontScale="92500" lnSpcReduction="10000"/>
          </a:bodyPr>
          <a:lstStyle/>
          <a:p>
            <a:pPr algn="ctr"/>
            <a:r>
              <a:rPr lang="en-US" dirty="0"/>
              <a:t>By responding to complaints, albeit in a timely manner, NYC DOHMH informs New Yorkers that the 311 complaints portal is a safe space to report unsanitary food establishment conditions and the confidence to continue to dine at these restaurants. 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2D56B44D-3103-D5F9-53B7-5E6A170CBF3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4" r="6014"/>
          <a:stretch>
            <a:fillRect/>
          </a:stretch>
        </p:blipFill>
        <p:spPr>
          <a:xfrm>
            <a:off x="5995555" y="806857"/>
            <a:ext cx="5271409" cy="5271409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4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948600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EF0E-DDBB-4546-25C6-6D455858B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1E457-30D7-D792-E235-3367D1ABB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11" y="839677"/>
            <a:ext cx="4361688" cy="343463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https://opendata.cityofnewyork.us/311-service-requests-from-2010-to-present-updates/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311 Service Level Agreements | NYC Open Data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AI programs such as Gemini and ChatGPT were used to clarify some codes used in Python during the analysis </a:t>
            </a:r>
          </a:p>
        </p:txBody>
      </p:sp>
    </p:spTree>
    <p:extLst>
      <p:ext uri="{BB962C8B-B14F-4D97-AF65-F5344CB8AC3E}">
        <p14:creationId xmlns:p14="http://schemas.microsoft.com/office/powerpoint/2010/main" val="67686359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{68699136-2CAE-4B60-9836-9CA80D3FFC2D}f4c2fa09-5552-4190-875c-1979579583e2-TFc553d604-a3b6-4c52-b2ed-3a769335c0fd_win32</Template>
  <TotalTime>4955</TotalTime>
  <Words>907</Words>
  <Application>Microsoft Office PowerPoint</Application>
  <PresentationFormat>Widescreen</PresentationFormat>
  <Paragraphs>108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Lora</vt:lpstr>
      <vt:lpstr>Playfair Display Black</vt:lpstr>
      <vt:lpstr>Poppins Light</vt:lpstr>
      <vt:lpstr>Gradient Circle</vt:lpstr>
      <vt:lpstr>To complain or not to complain? </vt:lpstr>
      <vt:lpstr>Welcome</vt:lpstr>
      <vt:lpstr>Introduction </vt:lpstr>
      <vt:lpstr>complaints from January 1, 2023 – August 31st, 2026  39 complaints per day  2 per (24)hour  (5 per workday)  </vt:lpstr>
      <vt:lpstr>PowerPoint Presentation</vt:lpstr>
      <vt:lpstr>How do we measure performance? </vt:lpstr>
      <vt:lpstr>How is the Department doing? </vt:lpstr>
      <vt:lpstr>Summary </vt:lpstr>
      <vt:lpstr>To complain or not to complain?   </vt:lpstr>
      <vt:lpstr>“If you complain to someone, you assume that it's someone who really cares about you.” – Scott Hahn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Faith Forde</dc:creator>
  <cp:lastModifiedBy>Faith Forde</cp:lastModifiedBy>
  <cp:revision>2</cp:revision>
  <dcterms:created xsi:type="dcterms:W3CDTF">2026-09-24T23:56:24Z</dcterms:created>
  <dcterms:modified xsi:type="dcterms:W3CDTF">2026-10-03T17:48:48Z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